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0" autoAdjust="0"/>
    <p:restoredTop sz="94660"/>
  </p:normalViewPr>
  <p:slideViewPr>
    <p:cSldViewPr snapToGrid="0">
      <p:cViewPr varScale="1">
        <p:scale>
          <a:sx n="49" d="100"/>
          <a:sy n="49" d="100"/>
        </p:scale>
        <p:origin x="6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134CC-F176-C44C-1580-A902BDB482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42F00D-2654-800A-614A-D3BE84BB41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73E71-E357-353B-FB96-43B865D7B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5E77C-2A64-49ED-8899-9280757E1123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80B1F-6801-0A76-170C-DBD6F9B14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F2F4D-C80B-050E-0C9F-C110FABD6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4056E-B852-43C2-8CEB-13DCCE172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610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9244F-5B91-940F-3BB5-D7450DC3F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95F29-C65A-9AD0-F27A-B94A221675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AE925-5A97-178D-E18B-C54715F8F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5E77C-2A64-49ED-8899-9280757E1123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8BFBF4-B389-3832-966C-C973DF4A3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D17196-1978-ADE6-5482-FC9D44C0F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4056E-B852-43C2-8CEB-13DCCE172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214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A3527-C2AE-D596-7391-CD0301E34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EA5E78-91C6-FC85-0C71-103883AFF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FDF91B-BC97-D28E-4913-144DEC82E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5E77C-2A64-49ED-8899-9280757E1123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6791FA-0A27-B0AA-2CAD-2C0099C33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DB28D6-47A1-85B6-072D-9DD0DBA78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4056E-B852-43C2-8CEB-13DCCE172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259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53D2B-7A06-32DF-9BB7-21E4F39E3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EFCE6-8B2D-323E-3082-5634AFDC86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C6F8CF-DA95-C90E-D270-252DDA617B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2BCAC2-9C1E-88AA-BCF2-E065CB05B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5E77C-2A64-49ED-8899-9280757E1123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D56B3F-1566-637C-3705-B5B246DF9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D968A5-46F0-1232-F0A8-17DAD99DD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4056E-B852-43C2-8CEB-13DCCE172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765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53266-05BF-F646-F567-01DD0207C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7A5325-767B-76B7-C99F-5C166C3A6D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078B02-98DB-2832-1468-0137B5727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D5934A-6B35-B3E3-CEED-5A7B1A3E64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052D8C-EF3F-34F0-3DED-32996D6204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941A48-2678-D76E-7183-4C7B4F25D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5E77C-2A64-49ED-8899-9280757E1123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1578B8-76D0-BED5-823F-401AA035A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00D7D9-6F76-89AB-6A31-07A74FC7B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4056E-B852-43C2-8CEB-13DCCE172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278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39F4A-74F1-47B5-834F-173A93B65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38D07D-3D6B-4A5E-AB16-C43B7AEB8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5E77C-2A64-49ED-8899-9280757E1123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F69461-DC91-12FD-7F5D-DB341EC50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4EBB5A-EBFF-7593-BF47-99DF98EC6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4056E-B852-43C2-8CEB-13DCCE172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727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4F76A1-6B7A-40AA-C0F0-AC7367450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5E77C-2A64-49ED-8899-9280757E1123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192744-5BC7-930B-B681-CB4200FF3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20B574-C8EC-61B1-D5C5-0A5CC7549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4056E-B852-43C2-8CEB-13DCCE172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153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67483-D4A4-E80C-26F4-35076A206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B3619-35F5-32A7-F2B8-8C4811849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57F1C3-7E80-BC4E-9EDF-8E4612F75A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2197B-75CC-923B-9253-96ACE061C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5E77C-2A64-49ED-8899-9280757E1123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8369C6-C338-F6C5-74A8-2005FF271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84E435-F223-B44A-498A-0E4F53688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4056E-B852-43C2-8CEB-13DCCE172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094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BB410-6B63-EB5B-DFBA-93CF14322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AA731C-1357-17D3-C50A-9EF4300D0E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9B8402-D853-A545-1CD0-31FF2F8419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48B02F-DAFA-83E5-2A4F-CDC6C24EF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5E77C-2A64-49ED-8899-9280757E1123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5175F9-BA62-C2E8-3C4C-A9F8CB037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FF06E6-7C2C-5CB6-C87A-545F46EE7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4056E-B852-43C2-8CEB-13DCCE172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434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BC758-7B00-E565-8983-A0EEC09EC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77D1CA-0B3A-F47B-8575-C9A908A810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A02B38-C45E-9B13-FAAB-2FA35E902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5E77C-2A64-49ED-8899-9280757E1123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7EED50-0B75-12AC-797C-396ABE1FA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9CF97B-8745-0016-4316-C38755D98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4056E-B852-43C2-8CEB-13DCCE172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82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D84E6A-8617-EC8A-5880-111C58B00F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E8A800-B92F-DD16-868B-2F3B9DF3DF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F6DF9-CC7A-1965-14DF-6CE263D89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5E77C-2A64-49ED-8899-9280757E1123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8AA69F-3F6D-8980-A5FC-7D9068FC2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9E4E2-CCB6-0D08-45B6-25C7AE634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64056E-B852-43C2-8CEB-13DCCE172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223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484A1F-1D44-D604-C135-90EB45B23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4D1A78-6DB6-D962-5A70-982027A6A9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76A3A9-CAAD-E3C1-D191-2579065F3C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75E77C-2A64-49ED-8899-9280757E1123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4EAD5C-9182-91B6-DBE7-1F6DBFBBFC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C7C09-4753-B712-74DB-442AB03B3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64056E-B852-43C2-8CEB-13DCCE172A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308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5D12E797-2F82-6A92-C35F-2E2F5456DBBF}"/>
              </a:ext>
            </a:extLst>
          </p:cNvPr>
          <p:cNvGrpSpPr/>
          <p:nvPr/>
        </p:nvGrpSpPr>
        <p:grpSpPr>
          <a:xfrm>
            <a:off x="5900068" y="883916"/>
            <a:ext cx="2525484" cy="3944989"/>
            <a:chOff x="5299176" y="1092924"/>
            <a:chExt cx="2525484" cy="3944989"/>
          </a:xfrm>
        </p:grpSpPr>
        <p:sp>
          <p:nvSpPr>
            <p:cNvPr id="4" name="Parallelogram 3">
              <a:extLst>
                <a:ext uri="{FF2B5EF4-FFF2-40B4-BE49-F238E27FC236}">
                  <a16:creationId xmlns:a16="http://schemas.microsoft.com/office/drawing/2014/main" id="{55C7B172-D78F-DC54-B0F9-C4A9A73E2385}"/>
                </a:ext>
              </a:extLst>
            </p:cNvPr>
            <p:cNvSpPr/>
            <p:nvPr/>
          </p:nvSpPr>
          <p:spPr>
            <a:xfrm>
              <a:off x="6074237" y="1092924"/>
              <a:ext cx="1750423" cy="914400"/>
            </a:xfrm>
            <a:prstGeom prst="parallelogram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System Validation</a:t>
              </a:r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817E15AF-2489-2A0A-E09F-3D9F15103768}"/>
                </a:ext>
              </a:extLst>
            </p:cNvPr>
            <p:cNvSpPr/>
            <p:nvPr/>
          </p:nvSpPr>
          <p:spPr>
            <a:xfrm>
              <a:off x="5834748" y="2103120"/>
              <a:ext cx="1750423" cy="914400"/>
            </a:xfrm>
            <a:prstGeom prst="parallelogram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System Verification</a:t>
              </a:r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F1CE8E64-8FD7-CD81-6006-61896595D27C}"/>
                </a:ext>
              </a:extLst>
            </p:cNvPr>
            <p:cNvSpPr/>
            <p:nvPr/>
          </p:nvSpPr>
          <p:spPr>
            <a:xfrm>
              <a:off x="5547368" y="3113316"/>
              <a:ext cx="1750423" cy="914400"/>
            </a:xfrm>
            <a:prstGeom prst="parallelogram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Subsystem Verification</a:t>
              </a:r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472541E-95CD-FFA8-BD4D-F55735888F2D}"/>
                </a:ext>
              </a:extLst>
            </p:cNvPr>
            <p:cNvSpPr/>
            <p:nvPr/>
          </p:nvSpPr>
          <p:spPr>
            <a:xfrm>
              <a:off x="5299176" y="4123513"/>
              <a:ext cx="1750423" cy="914400"/>
            </a:xfrm>
            <a:prstGeom prst="parallelogram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Unit Testing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325EB10-5B73-B5BC-8776-D5BBF818871E}"/>
              </a:ext>
            </a:extLst>
          </p:cNvPr>
          <p:cNvGrpSpPr/>
          <p:nvPr/>
        </p:nvGrpSpPr>
        <p:grpSpPr>
          <a:xfrm>
            <a:off x="2830284" y="883916"/>
            <a:ext cx="2473238" cy="3944989"/>
            <a:chOff x="2229392" y="1092924"/>
            <a:chExt cx="2473238" cy="3944989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9980E81-51CB-6681-AF89-E84C212C1038}"/>
                </a:ext>
              </a:extLst>
            </p:cNvPr>
            <p:cNvGrpSpPr/>
            <p:nvPr/>
          </p:nvGrpSpPr>
          <p:grpSpPr>
            <a:xfrm>
              <a:off x="2229392" y="1092924"/>
              <a:ext cx="1750423" cy="914400"/>
              <a:chOff x="2229392" y="1092924"/>
              <a:chExt cx="1750423" cy="914400"/>
            </a:xfrm>
          </p:grpSpPr>
          <p:sp>
            <p:nvSpPr>
              <p:cNvPr id="5" name="Parallelogram 4">
                <a:extLst>
                  <a:ext uri="{FF2B5EF4-FFF2-40B4-BE49-F238E27FC236}">
                    <a16:creationId xmlns:a16="http://schemas.microsoft.com/office/drawing/2014/main" id="{093A1A3F-538D-18F6-12FA-5311FB2E761A}"/>
                  </a:ext>
                </a:extLst>
              </p:cNvPr>
              <p:cNvSpPr/>
              <p:nvPr/>
            </p:nvSpPr>
            <p:spPr>
              <a:xfrm flipV="1">
                <a:off x="2229392" y="1092924"/>
                <a:ext cx="1750423" cy="914400"/>
              </a:xfrm>
              <a:prstGeom prst="parallelogram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2F32C67-B4E8-2ADE-9654-4265B10A015D}"/>
                  </a:ext>
                </a:extLst>
              </p:cNvPr>
              <p:cNvSpPr txBox="1"/>
              <p:nvPr/>
            </p:nvSpPr>
            <p:spPr>
              <a:xfrm>
                <a:off x="2460036" y="1226959"/>
                <a:ext cx="128913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Concept of</a:t>
                </a:r>
                <a:br>
                  <a:rPr lang="en-US" dirty="0"/>
                </a:br>
                <a:r>
                  <a:rPr lang="en-US" dirty="0"/>
                  <a:t>Operations</a:t>
                </a: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5F39EB5A-4ACA-4F2D-E85C-BACAB9B670E9}"/>
                </a:ext>
              </a:extLst>
            </p:cNvPr>
            <p:cNvGrpSpPr/>
            <p:nvPr/>
          </p:nvGrpSpPr>
          <p:grpSpPr>
            <a:xfrm>
              <a:off x="2473233" y="2103120"/>
              <a:ext cx="1750423" cy="914400"/>
              <a:chOff x="2473233" y="2103120"/>
              <a:chExt cx="1750423" cy="914400"/>
            </a:xfrm>
          </p:grpSpPr>
          <p:sp>
            <p:nvSpPr>
              <p:cNvPr id="6" name="Parallelogram 5">
                <a:extLst>
                  <a:ext uri="{FF2B5EF4-FFF2-40B4-BE49-F238E27FC236}">
                    <a16:creationId xmlns:a16="http://schemas.microsoft.com/office/drawing/2014/main" id="{17D19220-E049-5252-BA2F-A084A2550791}"/>
                  </a:ext>
                </a:extLst>
              </p:cNvPr>
              <p:cNvSpPr/>
              <p:nvPr/>
            </p:nvSpPr>
            <p:spPr>
              <a:xfrm flipV="1">
                <a:off x="2473233" y="2103120"/>
                <a:ext cx="1750423" cy="914400"/>
              </a:xfrm>
              <a:prstGeom prst="parallelogram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38CE578-6076-23A6-664E-741F313F73F3}"/>
                  </a:ext>
                </a:extLst>
              </p:cNvPr>
              <p:cNvSpPr txBox="1"/>
              <p:nvPr/>
            </p:nvSpPr>
            <p:spPr>
              <a:xfrm>
                <a:off x="2555214" y="2237155"/>
                <a:ext cx="158646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System</a:t>
                </a:r>
                <a:br>
                  <a:rPr lang="en-US" dirty="0"/>
                </a:br>
                <a:r>
                  <a:rPr lang="en-US" dirty="0"/>
                  <a:t>Requirements</a:t>
                </a:r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E30C92B3-602F-1A67-87B2-D1B8C837BD0A}"/>
                </a:ext>
              </a:extLst>
            </p:cNvPr>
            <p:cNvGrpSpPr/>
            <p:nvPr/>
          </p:nvGrpSpPr>
          <p:grpSpPr>
            <a:xfrm>
              <a:off x="2708366" y="3113316"/>
              <a:ext cx="1750423" cy="914400"/>
              <a:chOff x="2708366" y="3113316"/>
              <a:chExt cx="1750423" cy="914400"/>
            </a:xfrm>
          </p:grpSpPr>
          <p:sp>
            <p:nvSpPr>
              <p:cNvPr id="7" name="Parallelogram 6">
                <a:extLst>
                  <a:ext uri="{FF2B5EF4-FFF2-40B4-BE49-F238E27FC236}">
                    <a16:creationId xmlns:a16="http://schemas.microsoft.com/office/drawing/2014/main" id="{3D087594-977E-36FF-36CF-ED9FAE596346}"/>
                  </a:ext>
                </a:extLst>
              </p:cNvPr>
              <p:cNvSpPr/>
              <p:nvPr/>
            </p:nvSpPr>
            <p:spPr>
              <a:xfrm flipV="1">
                <a:off x="2708366" y="3113316"/>
                <a:ext cx="1750423" cy="914400"/>
              </a:xfrm>
              <a:prstGeom prst="parallelogram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54BF98B-3A2D-92A5-19AB-98E362832275}"/>
                  </a:ext>
                </a:extLst>
              </p:cNvPr>
              <p:cNvSpPr txBox="1"/>
              <p:nvPr/>
            </p:nvSpPr>
            <p:spPr>
              <a:xfrm>
                <a:off x="2963215" y="3247351"/>
                <a:ext cx="124072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High-Level</a:t>
                </a:r>
                <a:br>
                  <a:rPr lang="en-US" dirty="0"/>
                </a:br>
                <a:r>
                  <a:rPr lang="en-US" dirty="0"/>
                  <a:t>Design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27B80C0E-4B28-7A68-9437-3660DE6BB03B}"/>
                </a:ext>
              </a:extLst>
            </p:cNvPr>
            <p:cNvGrpSpPr/>
            <p:nvPr/>
          </p:nvGrpSpPr>
          <p:grpSpPr>
            <a:xfrm>
              <a:off x="2952207" y="4123513"/>
              <a:ext cx="1750423" cy="914400"/>
              <a:chOff x="2952207" y="4123513"/>
              <a:chExt cx="1750423" cy="914400"/>
            </a:xfrm>
          </p:grpSpPr>
          <p:sp>
            <p:nvSpPr>
              <p:cNvPr id="8" name="Parallelogram 7">
                <a:extLst>
                  <a:ext uri="{FF2B5EF4-FFF2-40B4-BE49-F238E27FC236}">
                    <a16:creationId xmlns:a16="http://schemas.microsoft.com/office/drawing/2014/main" id="{3C30B1BA-C7FC-9A5B-29AA-9298E161D0AE}"/>
                  </a:ext>
                </a:extLst>
              </p:cNvPr>
              <p:cNvSpPr/>
              <p:nvPr/>
            </p:nvSpPr>
            <p:spPr>
              <a:xfrm flipV="1">
                <a:off x="2952207" y="4123513"/>
                <a:ext cx="1750423" cy="914400"/>
              </a:xfrm>
              <a:prstGeom prst="parallelogram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022B059-BD28-772C-BACD-61B7B71D82D0}"/>
                  </a:ext>
                </a:extLst>
              </p:cNvPr>
              <p:cNvSpPr txBox="1"/>
              <p:nvPr/>
            </p:nvSpPr>
            <p:spPr>
              <a:xfrm>
                <a:off x="3313143" y="4257548"/>
                <a:ext cx="102855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/>
                  <a:t>Detailed</a:t>
                </a:r>
                <a:br>
                  <a:rPr lang="en-US" dirty="0"/>
                </a:br>
                <a:r>
                  <a:rPr lang="en-US" dirty="0"/>
                  <a:t>Design</a:t>
                </a:r>
              </a:p>
            </p:txBody>
          </p:sp>
        </p:grp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DC6FD415-DBF6-22C4-8BA7-F038515558FD}"/>
              </a:ext>
            </a:extLst>
          </p:cNvPr>
          <p:cNvSpPr txBox="1"/>
          <p:nvPr/>
        </p:nvSpPr>
        <p:spPr>
          <a:xfrm>
            <a:off x="2560319" y="5708465"/>
            <a:ext cx="73093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AdaCore</a:t>
            </a:r>
            <a:r>
              <a:rPr lang="en-US" sz="2400" b="1" dirty="0"/>
              <a:t> </a:t>
            </a:r>
            <a:r>
              <a:rPr lang="en-US" sz="2400" b="1" dirty="0" err="1"/>
              <a:t>Toolsuites</a:t>
            </a:r>
            <a:r>
              <a:rPr lang="en-US" sz="2400" b="1" dirty="0"/>
              <a:t> and the “V” Software Life Cycle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7BA4B33-557B-6647-D92E-6F5597356A8F}"/>
              </a:ext>
            </a:extLst>
          </p:cNvPr>
          <p:cNvSpPr/>
          <p:nvPr/>
        </p:nvSpPr>
        <p:spPr>
          <a:xfrm>
            <a:off x="1332412" y="261255"/>
            <a:ext cx="9501053" cy="62832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B99AFB1B-617F-A9EF-9C3C-E09CDC9765C6}"/>
              </a:ext>
            </a:extLst>
          </p:cNvPr>
          <p:cNvSpPr/>
          <p:nvPr/>
        </p:nvSpPr>
        <p:spPr>
          <a:xfrm>
            <a:off x="4807121" y="3420288"/>
            <a:ext cx="1541417" cy="78377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GNAT Pro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9FDCE4B-9695-15A7-0E08-1E482A9C1CA5}"/>
              </a:ext>
            </a:extLst>
          </p:cNvPr>
          <p:cNvSpPr/>
          <p:nvPr/>
        </p:nvSpPr>
        <p:spPr>
          <a:xfrm>
            <a:off x="2255500" y="3420288"/>
            <a:ext cx="1541417" cy="78377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SPARK Pro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81A3406-28E0-6CB2-E45B-D07BD5F9125E}"/>
              </a:ext>
            </a:extLst>
          </p:cNvPr>
          <p:cNvSpPr/>
          <p:nvPr/>
        </p:nvSpPr>
        <p:spPr>
          <a:xfrm>
            <a:off x="7228112" y="3420288"/>
            <a:ext cx="2934789" cy="78377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GNAT Dynamic Analysis Suite 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886B152-5DF9-8AA3-60E3-ED480783A587}"/>
              </a:ext>
            </a:extLst>
          </p:cNvPr>
          <p:cNvSpPr/>
          <p:nvPr/>
        </p:nvSpPr>
        <p:spPr>
          <a:xfrm>
            <a:off x="4134400" y="4702621"/>
            <a:ext cx="2934789" cy="78377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GNAT Static Analysis Suite </a:t>
            </a:r>
          </a:p>
        </p:txBody>
      </p:sp>
    </p:spTree>
    <p:extLst>
      <p:ext uri="{BB962C8B-B14F-4D97-AF65-F5344CB8AC3E}">
        <p14:creationId xmlns:p14="http://schemas.microsoft.com/office/powerpoint/2010/main" val="2020127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5DCFF-17B0-B9BD-3421-B3DD99EEC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77FEBE6E-0D4F-FE8F-FCE7-7BE4C265E77A}"/>
              </a:ext>
            </a:extLst>
          </p:cNvPr>
          <p:cNvGrpSpPr/>
          <p:nvPr/>
        </p:nvGrpSpPr>
        <p:grpSpPr>
          <a:xfrm>
            <a:off x="5900068" y="505091"/>
            <a:ext cx="2525484" cy="3944989"/>
            <a:chOff x="5299176" y="1092924"/>
            <a:chExt cx="2525484" cy="3944989"/>
          </a:xfrm>
        </p:grpSpPr>
        <p:sp>
          <p:nvSpPr>
            <p:cNvPr id="4" name="Parallelogram 3">
              <a:extLst>
                <a:ext uri="{FF2B5EF4-FFF2-40B4-BE49-F238E27FC236}">
                  <a16:creationId xmlns:a16="http://schemas.microsoft.com/office/drawing/2014/main" id="{0EB79429-7EB1-C176-07C1-2E3D5B9AC819}"/>
                </a:ext>
              </a:extLst>
            </p:cNvPr>
            <p:cNvSpPr/>
            <p:nvPr/>
          </p:nvSpPr>
          <p:spPr>
            <a:xfrm>
              <a:off x="6074237" y="1092924"/>
              <a:ext cx="1750423" cy="914400"/>
            </a:xfrm>
            <a:prstGeom prst="parallelogram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System Validation</a:t>
              </a:r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97B49B6B-72AD-EEAB-65F2-31AD461975ED}"/>
                </a:ext>
              </a:extLst>
            </p:cNvPr>
            <p:cNvSpPr/>
            <p:nvPr/>
          </p:nvSpPr>
          <p:spPr>
            <a:xfrm>
              <a:off x="5834748" y="2103120"/>
              <a:ext cx="1750423" cy="914400"/>
            </a:xfrm>
            <a:prstGeom prst="parallelogram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System Verification</a:t>
              </a:r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3C5F4932-F4F6-EA00-957B-2CADFA386663}"/>
                </a:ext>
              </a:extLst>
            </p:cNvPr>
            <p:cNvSpPr/>
            <p:nvPr/>
          </p:nvSpPr>
          <p:spPr>
            <a:xfrm>
              <a:off x="5547368" y="3113316"/>
              <a:ext cx="1750423" cy="914400"/>
            </a:xfrm>
            <a:prstGeom prst="parallelogram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Subsystem Verification</a:t>
              </a:r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FE29A035-EBC1-9B8B-9ACE-A2E194252EE8}"/>
                </a:ext>
              </a:extLst>
            </p:cNvPr>
            <p:cNvSpPr/>
            <p:nvPr/>
          </p:nvSpPr>
          <p:spPr>
            <a:xfrm>
              <a:off x="5299176" y="4123513"/>
              <a:ext cx="1750423" cy="914400"/>
            </a:xfrm>
            <a:prstGeom prst="parallelogram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</a:rPr>
                <a:t>Unit Testing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6534A06-4248-6F93-A924-9BD78FF6A965}"/>
              </a:ext>
            </a:extLst>
          </p:cNvPr>
          <p:cNvGrpSpPr/>
          <p:nvPr/>
        </p:nvGrpSpPr>
        <p:grpSpPr>
          <a:xfrm>
            <a:off x="2190200" y="505091"/>
            <a:ext cx="2473238" cy="3944989"/>
            <a:chOff x="2229392" y="1092924"/>
            <a:chExt cx="2473238" cy="3944989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7949329A-3414-C696-B10E-8EFAEB84357B}"/>
                </a:ext>
              </a:extLst>
            </p:cNvPr>
            <p:cNvGrpSpPr/>
            <p:nvPr/>
          </p:nvGrpSpPr>
          <p:grpSpPr>
            <a:xfrm>
              <a:off x="2229392" y="1092924"/>
              <a:ext cx="1750423" cy="914400"/>
              <a:chOff x="2229392" y="1092924"/>
              <a:chExt cx="1750423" cy="914400"/>
            </a:xfrm>
          </p:grpSpPr>
          <p:sp>
            <p:nvSpPr>
              <p:cNvPr id="5" name="Parallelogram 4">
                <a:extLst>
                  <a:ext uri="{FF2B5EF4-FFF2-40B4-BE49-F238E27FC236}">
                    <a16:creationId xmlns:a16="http://schemas.microsoft.com/office/drawing/2014/main" id="{A862F38B-796E-546F-0A98-7BA3E5BBB883}"/>
                  </a:ext>
                </a:extLst>
              </p:cNvPr>
              <p:cNvSpPr/>
              <p:nvPr/>
            </p:nvSpPr>
            <p:spPr>
              <a:xfrm flipV="1">
                <a:off x="2229392" y="1092924"/>
                <a:ext cx="1750423" cy="914400"/>
              </a:xfrm>
              <a:prstGeom prst="parallelogram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E40F807-454C-5117-9603-152D8132CF8C}"/>
                  </a:ext>
                </a:extLst>
              </p:cNvPr>
              <p:cNvSpPr txBox="1"/>
              <p:nvPr/>
            </p:nvSpPr>
            <p:spPr>
              <a:xfrm>
                <a:off x="2494179" y="1226959"/>
                <a:ext cx="122084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b="1" dirty="0"/>
                  <a:t>Concept of</a:t>
                </a:r>
                <a:br>
                  <a:rPr lang="en-US" sz="1600" b="1" dirty="0"/>
                </a:br>
                <a:r>
                  <a:rPr lang="en-US" sz="1600" b="1" dirty="0"/>
                  <a:t>Operations</a:t>
                </a: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9C39F229-8208-41DB-92A9-2DA570F2EC7A}"/>
                </a:ext>
              </a:extLst>
            </p:cNvPr>
            <p:cNvGrpSpPr/>
            <p:nvPr/>
          </p:nvGrpSpPr>
          <p:grpSpPr>
            <a:xfrm>
              <a:off x="2473233" y="2103120"/>
              <a:ext cx="1750423" cy="914400"/>
              <a:chOff x="2473233" y="2103120"/>
              <a:chExt cx="1750423" cy="914400"/>
            </a:xfrm>
          </p:grpSpPr>
          <p:sp>
            <p:nvSpPr>
              <p:cNvPr id="6" name="Parallelogram 5">
                <a:extLst>
                  <a:ext uri="{FF2B5EF4-FFF2-40B4-BE49-F238E27FC236}">
                    <a16:creationId xmlns:a16="http://schemas.microsoft.com/office/drawing/2014/main" id="{07D2A6F4-0BFA-D80D-D5C8-5084A0D6165A}"/>
                  </a:ext>
                </a:extLst>
              </p:cNvPr>
              <p:cNvSpPr/>
              <p:nvPr/>
            </p:nvSpPr>
            <p:spPr>
              <a:xfrm flipV="1">
                <a:off x="2473233" y="2103120"/>
                <a:ext cx="1750423" cy="914400"/>
              </a:xfrm>
              <a:prstGeom prst="parallelogram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247BB3C-EF9E-2B22-3D62-3A1FF85560AC}"/>
                  </a:ext>
                </a:extLst>
              </p:cNvPr>
              <p:cNvSpPr txBox="1"/>
              <p:nvPr/>
            </p:nvSpPr>
            <p:spPr>
              <a:xfrm>
                <a:off x="2596988" y="2237155"/>
                <a:ext cx="150291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b="1" dirty="0"/>
                  <a:t>System</a:t>
                </a:r>
                <a:br>
                  <a:rPr lang="en-US" sz="1600" b="1" dirty="0"/>
                </a:br>
                <a:r>
                  <a:rPr lang="en-US" sz="1600" b="1" dirty="0"/>
                  <a:t>Requirements</a:t>
                </a:r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2F3EDB68-AEE4-7CF9-BF02-177E79A52036}"/>
                </a:ext>
              </a:extLst>
            </p:cNvPr>
            <p:cNvGrpSpPr/>
            <p:nvPr/>
          </p:nvGrpSpPr>
          <p:grpSpPr>
            <a:xfrm>
              <a:off x="2708366" y="3113316"/>
              <a:ext cx="1750423" cy="914400"/>
              <a:chOff x="2708366" y="3113316"/>
              <a:chExt cx="1750423" cy="914400"/>
            </a:xfrm>
          </p:grpSpPr>
          <p:sp>
            <p:nvSpPr>
              <p:cNvPr id="7" name="Parallelogram 6">
                <a:extLst>
                  <a:ext uri="{FF2B5EF4-FFF2-40B4-BE49-F238E27FC236}">
                    <a16:creationId xmlns:a16="http://schemas.microsoft.com/office/drawing/2014/main" id="{EBCBEF66-0345-526C-9668-579AB5673FA2}"/>
                  </a:ext>
                </a:extLst>
              </p:cNvPr>
              <p:cNvSpPr/>
              <p:nvPr/>
            </p:nvSpPr>
            <p:spPr>
              <a:xfrm flipV="1">
                <a:off x="2708366" y="3113316"/>
                <a:ext cx="1750423" cy="914400"/>
              </a:xfrm>
              <a:prstGeom prst="parallelogram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1D88DC5-0900-B580-43D7-1E85EB70EC52}"/>
                  </a:ext>
                </a:extLst>
              </p:cNvPr>
              <p:cNvSpPr txBox="1"/>
              <p:nvPr/>
            </p:nvSpPr>
            <p:spPr>
              <a:xfrm>
                <a:off x="2995755" y="3247351"/>
                <a:ext cx="117564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b="1" dirty="0"/>
                  <a:t>High-Level</a:t>
                </a:r>
                <a:br>
                  <a:rPr lang="en-US" sz="1600" b="1" dirty="0"/>
                </a:br>
                <a:r>
                  <a:rPr lang="en-US" sz="1600" b="1" dirty="0"/>
                  <a:t>Design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B0130101-2DB1-2668-8939-8452C7BF6DD1}"/>
                </a:ext>
              </a:extLst>
            </p:cNvPr>
            <p:cNvGrpSpPr/>
            <p:nvPr/>
          </p:nvGrpSpPr>
          <p:grpSpPr>
            <a:xfrm>
              <a:off x="2952207" y="4123513"/>
              <a:ext cx="1750423" cy="914400"/>
              <a:chOff x="2952207" y="4123513"/>
              <a:chExt cx="1750423" cy="914400"/>
            </a:xfrm>
          </p:grpSpPr>
          <p:sp>
            <p:nvSpPr>
              <p:cNvPr id="8" name="Parallelogram 7">
                <a:extLst>
                  <a:ext uri="{FF2B5EF4-FFF2-40B4-BE49-F238E27FC236}">
                    <a16:creationId xmlns:a16="http://schemas.microsoft.com/office/drawing/2014/main" id="{7FE4F028-0515-E077-D2B6-B9F0F667BC83}"/>
                  </a:ext>
                </a:extLst>
              </p:cNvPr>
              <p:cNvSpPr/>
              <p:nvPr/>
            </p:nvSpPr>
            <p:spPr>
              <a:xfrm flipV="1">
                <a:off x="2952207" y="4123513"/>
                <a:ext cx="1750423" cy="914400"/>
              </a:xfrm>
              <a:prstGeom prst="parallelogram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81D20B4-0787-D18C-56F1-2013381F722F}"/>
                  </a:ext>
                </a:extLst>
              </p:cNvPr>
              <p:cNvSpPr txBox="1"/>
              <p:nvPr/>
            </p:nvSpPr>
            <p:spPr>
              <a:xfrm>
                <a:off x="3336900" y="4257548"/>
                <a:ext cx="98103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b="1" dirty="0"/>
                  <a:t>Detailed</a:t>
                </a:r>
                <a:br>
                  <a:rPr lang="en-US" sz="1600" b="1" dirty="0"/>
                </a:br>
                <a:r>
                  <a:rPr lang="en-US" sz="1600" b="1" dirty="0"/>
                  <a:t>Design</a:t>
                </a:r>
              </a:p>
            </p:txBody>
          </p:sp>
        </p:grp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ECC217DB-0D03-8A11-A216-98AEC6A09DC4}"/>
              </a:ext>
            </a:extLst>
          </p:cNvPr>
          <p:cNvSpPr txBox="1"/>
          <p:nvPr/>
        </p:nvSpPr>
        <p:spPr>
          <a:xfrm>
            <a:off x="1725037" y="5956658"/>
            <a:ext cx="73093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AdaCore</a:t>
            </a:r>
            <a:r>
              <a:rPr lang="en-US" sz="2400" b="1" dirty="0"/>
              <a:t> </a:t>
            </a:r>
            <a:r>
              <a:rPr lang="en-US" sz="2400" b="1" dirty="0" err="1"/>
              <a:t>Toolsuites</a:t>
            </a:r>
            <a:r>
              <a:rPr lang="en-US" sz="2400" b="1" dirty="0"/>
              <a:t> and the “V” Software Life Cycle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D57F78E-E37B-F70A-553B-3550197B91D5}"/>
              </a:ext>
            </a:extLst>
          </p:cNvPr>
          <p:cNvSpPr/>
          <p:nvPr/>
        </p:nvSpPr>
        <p:spPr>
          <a:xfrm>
            <a:off x="757646" y="261255"/>
            <a:ext cx="9244155" cy="628323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rapezoid 13">
            <a:extLst>
              <a:ext uri="{FF2B5EF4-FFF2-40B4-BE49-F238E27FC236}">
                <a16:creationId xmlns:a16="http://schemas.microsoft.com/office/drawing/2014/main" id="{5D3FDDB0-BF57-125B-954A-00F3BCC13501}"/>
              </a:ext>
            </a:extLst>
          </p:cNvPr>
          <p:cNvSpPr/>
          <p:nvPr/>
        </p:nvSpPr>
        <p:spPr>
          <a:xfrm flipV="1">
            <a:off x="3224352" y="4545878"/>
            <a:ext cx="4169225" cy="783772"/>
          </a:xfrm>
          <a:prstGeom prst="trapezoid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BC7F10-8C5A-FA48-9F63-0F850D65EC7E}"/>
              </a:ext>
            </a:extLst>
          </p:cNvPr>
          <p:cNvSpPr txBox="1"/>
          <p:nvPr/>
        </p:nvSpPr>
        <p:spPr>
          <a:xfrm>
            <a:off x="4287841" y="4766160"/>
            <a:ext cx="2589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Software Development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78944C4-02E1-9258-BE46-30D57DD7846D}"/>
              </a:ext>
            </a:extLst>
          </p:cNvPr>
          <p:cNvSpPr/>
          <p:nvPr/>
        </p:nvSpPr>
        <p:spPr>
          <a:xfrm>
            <a:off x="3912329" y="5081444"/>
            <a:ext cx="2934789" cy="78377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GNAT Static Analysis Suite 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532C589-C5FB-08BF-D3CD-C0A845737DAE}"/>
              </a:ext>
            </a:extLst>
          </p:cNvPr>
          <p:cNvSpPr/>
          <p:nvPr/>
        </p:nvSpPr>
        <p:spPr>
          <a:xfrm>
            <a:off x="4438350" y="3996908"/>
            <a:ext cx="1882746" cy="78377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GNAT  Pro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3CA3FEC-893B-BC7D-1A4A-CD6C94A4E13E}"/>
              </a:ext>
            </a:extLst>
          </p:cNvPr>
          <p:cNvSpPr/>
          <p:nvPr/>
        </p:nvSpPr>
        <p:spPr>
          <a:xfrm>
            <a:off x="6783966" y="3996908"/>
            <a:ext cx="2934789" cy="78377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GNAT Dynamic Analysis Suite 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F445644-717B-814F-5813-8A4E3D66490D}"/>
              </a:ext>
            </a:extLst>
          </p:cNvPr>
          <p:cNvSpPr/>
          <p:nvPr/>
        </p:nvSpPr>
        <p:spPr>
          <a:xfrm>
            <a:off x="1584170" y="3996908"/>
            <a:ext cx="1882746" cy="78377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SPARK  Pro</a:t>
            </a:r>
          </a:p>
        </p:txBody>
      </p:sp>
    </p:spTree>
    <p:extLst>
      <p:ext uri="{BB962C8B-B14F-4D97-AF65-F5344CB8AC3E}">
        <p14:creationId xmlns:p14="http://schemas.microsoft.com/office/powerpoint/2010/main" val="11605349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88</Words>
  <Application>Microsoft Office PowerPoint</Application>
  <PresentationFormat>Widescreen</PresentationFormat>
  <Paragraphs>27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 Brosgol</dc:creator>
  <cp:lastModifiedBy>Ben Brosgol</cp:lastModifiedBy>
  <cp:revision>9</cp:revision>
  <dcterms:created xsi:type="dcterms:W3CDTF">2025-09-13T15:17:18Z</dcterms:created>
  <dcterms:modified xsi:type="dcterms:W3CDTF">2025-09-14T22:19:27Z</dcterms:modified>
</cp:coreProperties>
</file>